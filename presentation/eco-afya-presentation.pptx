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CO">
    <p:bg>
      <p:bgPr>
        <a:solidFill>
          <a:srgbClr val="071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1908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CCFF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 AFYA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B7A3"/>
                </a:solidFill>
                <a:latin typeface="Trebuchet MS"/>
                <a:ea typeface="Trebuchet MS"/>
                <a:cs typeface="Trebuchet M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B7A3"/>
                </a:solidFill>
                <a:latin typeface="Trebuchet MS"/>
                <a:ea typeface="Trebuchet MS"/>
                <a:cs typeface="Trebuchet M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93000"/>
          </a:blip>
          <a:stretch>
            <a:fillRect/>
          </a:stretch>
        </p:blipFill>
        <p:spPr>
          <a:xfrm>
            <a:off x="7223760" y="0"/>
            <a:ext cx="4965192" cy="6629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223760" y="0"/>
            <a:ext cx="4965192" cy="6629400"/>
          </a:xfrm>
          <a:prstGeom prst="rect">
            <a:avLst/>
          </a:prstGeom>
          <a:solidFill>
            <a:srgbClr val="071E17">
              <a:alpha val="65000"/>
            </a:srgbClr>
          </a:solidFill>
          <a:ln w="12700">
            <a:solidFill>
              <a:srgbClr val="071E17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5669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CCFF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🌱  ECO AFYA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85800" y="1481328"/>
            <a:ext cx="5989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6FB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every</a:t>
            </a:r>
            <a:endParaRPr lang="en-US" sz="3900" dirty="0"/>
          </a:p>
          <a:p>
            <a:pPr indent="0" marL="0">
              <a:buNone/>
            </a:pPr>
            <a:r>
              <a:rPr lang="en-US" sz="3900" b="1" dirty="0">
                <a:solidFill>
                  <a:srgbClr val="F6FB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choice count.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731520" y="3246120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C7E9D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clearer way to choose food that is good for your body and kinder to the planet.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31520" y="4663440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468172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1E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PRESENTATION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31520" y="52303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DB7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Health insight  ×  environmental insight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" y="598932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DB7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SEPTEMBER 2026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B7A3"/>
                </a:solidFill>
                <a:latin typeface="Trebuchet MS"/>
                <a:ea typeface="Trebuchet MS"/>
                <a:cs typeface="Trebuchet M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CCFF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ECO AFYA APPROACH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6FB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everyday food decision is overloaded.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53619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7E9D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Labels are everywhere. Clarity is not.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2240280"/>
            <a:ext cx="3017520" cy="0"/>
          </a:xfrm>
          <a:prstGeom prst="line">
            <a:avLst/>
          </a:prstGeom>
          <a:noFill/>
          <a:ln w="25400">
            <a:solidFill>
              <a:srgbClr val="CC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423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CCF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58368" y="29260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FB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Nutrition is hard to scan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8368" y="37033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7E9D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People want to understand what they are eating without decoding a wall of labels.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53128" y="2240280"/>
            <a:ext cx="3017520" cy="0"/>
          </a:xfrm>
          <a:prstGeom prst="line">
            <a:avLst/>
          </a:prstGeom>
          <a:noFill/>
          <a:ln w="25400">
            <a:solidFill>
              <a:srgbClr val="CCFF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53128" y="2423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CCF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453128" y="29260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FB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stays invisible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453128" y="37033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7E9D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environmental cost of a product rarely appears beside the choice itself.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47888" y="2240280"/>
            <a:ext cx="3017520" cy="0"/>
          </a:xfrm>
          <a:prstGeom prst="line">
            <a:avLst/>
          </a:prstGeom>
          <a:noFill/>
          <a:ln w="25400">
            <a:solidFill>
              <a:srgbClr val="CCFF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47888" y="24231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CCF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247888" y="292608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FB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Good intentions fade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47888" y="370332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7E9D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Without a simple way to save and reflect, healthy habits are difficult to sustain.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8368" y="5257800"/>
            <a:ext cx="10835640" cy="658368"/>
          </a:xfrm>
          <a:prstGeom prst="roundRect">
            <a:avLst>
              <a:gd name="adj" fmla="val 11111"/>
            </a:avLst>
          </a:prstGeom>
          <a:solidFill>
            <a:srgbClr val="0A2E23"/>
          </a:solidFill>
          <a:ln w="12700">
            <a:solidFill>
              <a:srgbClr val="103D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5440680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CF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 Afya turns scattered information into one calm, actionable decision.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B7A3"/>
                </a:solidFill>
                <a:latin typeface="Trebuchet MS"/>
                <a:ea typeface="Trebuchet MS"/>
                <a:cs typeface="Trebuchet M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CCFF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ECO AFYA APPROACH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6FB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place to understand the choice.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53619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7E9D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 Afya connects food discovery, personal context, and better habits.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98000"/>
          </a:blip>
          <a:stretch>
            <a:fillRect/>
          </a:stretch>
        </p:blipFill>
        <p:spPr>
          <a:xfrm>
            <a:off x="8092440" y="502920"/>
            <a:ext cx="3493008" cy="5440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092440" y="502920"/>
            <a:ext cx="3493008" cy="5440680"/>
          </a:xfrm>
          <a:prstGeom prst="rect">
            <a:avLst/>
          </a:prstGeom>
          <a:solidFill>
            <a:srgbClr val="071E17">
              <a:alpha val="48000"/>
            </a:srgbClr>
          </a:solidFill>
          <a:ln w="12700">
            <a:solidFill>
              <a:srgbClr val="071E17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22402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CCFF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PROMISE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85800" y="256032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6FB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the food.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F6FB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the signal.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F6FB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Choose with confidence.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713232" y="4434840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C7E9D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for everyday people, local food stories, and decisions that add up over time.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13232" y="53035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103D2E"/>
          </a:solidFill>
          <a:ln w="12700">
            <a:solidFill>
              <a:srgbClr val="103D2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4672" y="532180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7E9D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NUTRITION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1874520" y="5303520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103D2E"/>
          </a:solidFill>
          <a:ln w="12700">
            <a:solidFill>
              <a:srgbClr val="103D2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965960" y="532180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7E9D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PLANET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852928" y="53035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103D2E"/>
          </a:solidFill>
          <a:ln w="12700">
            <a:solidFill>
              <a:srgbClr val="103D2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944368" y="5321808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7E9D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WELLNESS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B7A3"/>
                </a:solidFill>
                <a:latin typeface="Trebuchet MS"/>
                <a:ea typeface="Trebuchet MS"/>
                <a:cs typeface="Trebuchet M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CCFF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ECO AFYA APPROACH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6FB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three-step journey from curiosity to habit.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53619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7E9D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feature has one job: make the next good choice easier.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2331720"/>
            <a:ext cx="3246120" cy="2606040"/>
          </a:xfrm>
          <a:prstGeom prst="roundRect">
            <a:avLst>
              <a:gd name="adj" fmla="val 2807"/>
            </a:avLst>
          </a:prstGeom>
          <a:solidFill>
            <a:srgbClr val="0A2E23"/>
          </a:solidFill>
          <a:ln w="15240">
            <a:solidFill>
              <a:srgbClr val="103D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63347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6F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🔎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127248" y="267919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CFF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05840" y="33375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CCFF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373075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6FB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Browse a focused catalogue or search the wider food database.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98848" y="2331720"/>
            <a:ext cx="3246120" cy="2606040"/>
          </a:xfrm>
          <a:prstGeom prst="roundRect">
            <a:avLst>
              <a:gd name="adj" fmla="val 2807"/>
            </a:avLst>
          </a:prstGeom>
          <a:solidFill>
            <a:srgbClr val="CCFF00"/>
          </a:solidFill>
          <a:ln w="15240">
            <a:solidFill>
              <a:srgbClr val="CCFF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263347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6F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🥗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894576" y="267919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71E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73168" y="33375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071E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UNDERSTAND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73168" y="373075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71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Compare Nutri-Score, Eco-Score, ingredients, and product details.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66176" y="2331720"/>
            <a:ext cx="3246120" cy="2606040"/>
          </a:xfrm>
          <a:prstGeom prst="roundRect">
            <a:avLst>
              <a:gd name="adj" fmla="val 2807"/>
            </a:avLst>
          </a:prstGeom>
          <a:solidFill>
            <a:srgbClr val="0A2E23"/>
          </a:solidFill>
          <a:ln w="15240">
            <a:solidFill>
              <a:srgbClr val="103D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0496" y="263347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F6F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❤️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661904" y="267919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CFF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540496" y="33375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CCFF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REMEMBER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40496" y="373075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6FB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Save favourites and keep a personal food log to build awareness over time.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1520" y="56692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i="1" dirty="0">
                <a:solidFill>
                  <a:srgbClr val="CCF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result: less guesswork, more agency.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B7A3"/>
                </a:solidFill>
                <a:latin typeface="Trebuchet MS"/>
                <a:ea typeface="Trebuchet MS"/>
                <a:cs typeface="Trebuchet M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CCFF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ECO AFYA APPROACH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6FB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product card is the decision surface.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53619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7E9D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compact view of the signals that matter most.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2103120"/>
            <a:ext cx="3931920" cy="3246120"/>
          </a:xfrm>
          <a:prstGeom prst="roundRect">
            <a:avLst>
              <a:gd name="adj" fmla="val 2254"/>
            </a:avLst>
          </a:prstGeom>
          <a:solidFill>
            <a:srgbClr val="0A2E23"/>
          </a:solidFill>
          <a:ln w="12700">
            <a:solidFill>
              <a:srgbClr val="103D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450592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6F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🥜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737360" y="25146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6FB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Peanut Butter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37360" y="28346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8DB7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Bega  ·  food product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60120" y="3429000"/>
            <a:ext cx="1536192" cy="685800"/>
          </a:xfrm>
          <a:prstGeom prst="roundRect">
            <a:avLst>
              <a:gd name="adj" fmla="val 8000"/>
            </a:avLst>
          </a:prstGeom>
          <a:solidFill>
            <a:srgbClr val="071E17"/>
          </a:solidFill>
          <a:ln w="12700">
            <a:solidFill>
              <a:srgbClr val="103D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" y="357530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C7E9D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Nutrition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57400" y="35295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CCFF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15768" y="3429000"/>
            <a:ext cx="1536192" cy="685800"/>
          </a:xfrm>
          <a:prstGeom prst="roundRect">
            <a:avLst>
              <a:gd name="adj" fmla="val 8000"/>
            </a:avLst>
          </a:prstGeom>
          <a:solidFill>
            <a:srgbClr val="071E17"/>
          </a:solidFill>
          <a:ln w="12700">
            <a:solidFill>
              <a:srgbClr val="103D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25496" y="357530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C7E9D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Planet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13048" y="35295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A65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45262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CCFF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View details  →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0120" y="4892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DB7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product page can go deeper when the user wants ingredients, barcode information, and a full breakdown.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23560" y="23317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CCFF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09360" y="233172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FB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Nutri-Score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309360" y="2660904"/>
            <a:ext cx="3017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7E9D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 nutritional orientation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23560" y="3044952"/>
            <a:ext cx="4800600" cy="0"/>
          </a:xfrm>
          <a:prstGeom prst="line">
            <a:avLst/>
          </a:prstGeom>
          <a:noFill/>
          <a:ln w="12700">
            <a:solidFill>
              <a:srgbClr val="103D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23560" y="341071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CCFF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09360" y="341071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FB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Eco-Score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309360" y="3739896"/>
            <a:ext cx="3017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7E9D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Environmental context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23560" y="4123944"/>
            <a:ext cx="4800600" cy="0"/>
          </a:xfrm>
          <a:prstGeom prst="line">
            <a:avLst/>
          </a:prstGeom>
          <a:noFill/>
          <a:ln w="12700">
            <a:solidFill>
              <a:srgbClr val="103D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23560" y="448970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CCFF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09360" y="448970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6FB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Ingredients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309360" y="4818888"/>
            <a:ext cx="3017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7E9D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Transparent product detail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623560" y="5202936"/>
            <a:ext cx="4800600" cy="0"/>
          </a:xfrm>
          <a:prstGeom prst="line">
            <a:avLst/>
          </a:prstGeom>
          <a:noFill/>
          <a:ln w="12700">
            <a:solidFill>
              <a:srgbClr val="103D2E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B7A3"/>
                </a:solidFill>
                <a:latin typeface="Trebuchet MS"/>
                <a:ea typeface="Trebuchet MS"/>
                <a:cs typeface="Trebuchet M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CCFF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ECO AFYA APPROACH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6FB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personal layer turns information into momentum.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53619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7E9D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app remembers what matters to each user.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92000"/>
          </a:blip>
          <a:stretch>
            <a:fillRect/>
          </a:stretch>
        </p:blipFill>
        <p:spPr>
          <a:xfrm>
            <a:off x="6967728" y="502920"/>
            <a:ext cx="4617720" cy="5440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967728" y="502920"/>
            <a:ext cx="4617720" cy="5440680"/>
          </a:xfrm>
          <a:prstGeom prst="rect">
            <a:avLst/>
          </a:prstGeom>
          <a:solidFill>
            <a:srgbClr val="071E17">
              <a:alpha val="58000"/>
            </a:srgbClr>
          </a:solidFill>
          <a:ln w="12700">
            <a:solidFill>
              <a:srgbClr val="071E17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" y="205740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CCFF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♥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298448" y="205740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6FB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Favourites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298448" y="242316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7E9D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Keep promising products close and compare them later.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13232" y="3227832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CCFF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✎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1298448" y="322783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6FB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 logs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298448" y="359359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7E9D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Record a choice, add a note, and reflect on patterns.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13232" y="4398264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CCFF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⌁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1298448" y="439826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6FB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Protected account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298448" y="476402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C7E9D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Personal records stay attached to the authenticated user.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B7A3"/>
                </a:solidFill>
                <a:latin typeface="Trebuchet MS"/>
                <a:ea typeface="Trebuchet MS"/>
                <a:cs typeface="Trebuchet M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7548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CCFF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ECO AFYA APPROACH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86384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6FB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lightweight full-stack foundation.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53619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7E9D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practical architecture for a product that can grow with its users.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77240" y="2377440"/>
            <a:ext cx="2697480" cy="987552"/>
          </a:xfrm>
          <a:prstGeom prst="roundRect">
            <a:avLst>
              <a:gd name="adj" fmla="val 7407"/>
            </a:avLst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6060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+ Vite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94436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71E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Responsive interface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43400" y="2377440"/>
            <a:ext cx="2697480" cy="987552"/>
          </a:xfrm>
          <a:prstGeom prst="roundRect">
            <a:avLst>
              <a:gd name="adj" fmla="val 7407"/>
            </a:avLst>
          </a:prstGeom>
          <a:solidFill>
            <a:srgbClr val="103D2E"/>
          </a:solidFill>
          <a:ln w="12700">
            <a:solidFill>
              <a:srgbClr val="103D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26060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FB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Flask API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26280" y="294436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6F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 + food logs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909560" y="2377440"/>
            <a:ext cx="2697480" cy="987552"/>
          </a:xfrm>
          <a:prstGeom prst="roundRect">
            <a:avLst>
              <a:gd name="adj" fmla="val 7407"/>
            </a:avLst>
          </a:prstGeom>
          <a:solidFill>
            <a:srgbClr val="103D2E"/>
          </a:solidFill>
          <a:ln w="12700">
            <a:solidFill>
              <a:srgbClr val="103D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92440" y="26060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FB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092440" y="294436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6FB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Users + records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343400" y="4572000"/>
            <a:ext cx="2697480" cy="987552"/>
          </a:xfrm>
          <a:prstGeom prst="roundRect">
            <a:avLst>
              <a:gd name="adj" fmla="val 7407"/>
            </a:avLst>
          </a:prstGeom>
          <a:solidFill>
            <a:srgbClr val="F5A65B"/>
          </a:solidFill>
          <a:ln w="12700">
            <a:solidFill>
              <a:srgbClr val="F5A6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48006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1E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Food Facts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26280" y="513892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071E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intelligence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74720" y="2852928"/>
            <a:ext cx="822960" cy="0"/>
          </a:xfrm>
          <a:prstGeom prst="line">
            <a:avLst/>
          </a:prstGeom>
          <a:noFill/>
          <a:ln w="19050">
            <a:solidFill>
              <a:srgbClr val="8DB7A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040880" y="2852928"/>
            <a:ext cx="822960" cy="0"/>
          </a:xfrm>
          <a:prstGeom prst="line">
            <a:avLst/>
          </a:prstGeom>
          <a:noFill/>
          <a:ln w="19050">
            <a:solidFill>
              <a:srgbClr val="8DB7A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687568" y="3703320"/>
            <a:ext cx="0" cy="685800"/>
          </a:xfrm>
          <a:prstGeom prst="line">
            <a:avLst/>
          </a:prstGeom>
          <a:noFill/>
          <a:ln w="19050">
            <a:solidFill>
              <a:srgbClr val="8DB7A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687568" y="3703320"/>
            <a:ext cx="-1325880" cy="685800"/>
          </a:xfrm>
          <a:prstGeom prst="line">
            <a:avLst/>
          </a:prstGeom>
          <a:noFill/>
          <a:ln w="19050">
            <a:solidFill>
              <a:srgbClr val="8DB7A3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777240" y="59436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C7E9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Designed to keep the user experience calm while the data and ownership rules stay explicit underneath.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B7A3"/>
                </a:solidFill>
                <a:latin typeface="Trebuchet MS"/>
                <a:ea typeface="Trebuchet MS"/>
                <a:cs typeface="Trebuchet M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80" kern="0" dirty="0">
                <a:solidFill>
                  <a:srgbClr val="CCFF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INVITATION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85800" y="1234440"/>
            <a:ext cx="6400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6FB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Better choices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6FB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with better context.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7E9D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 Afya makes nutrition and sustainability part of the same everyday conversation.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4069080"/>
            <a:ext cx="1481328" cy="310896"/>
          </a:xfrm>
          <a:prstGeom prst="roundRect">
            <a:avLst>
              <a:gd name="adj" fmla="val 23529"/>
            </a:avLst>
          </a:prstGeom>
          <a:solidFill>
            <a:srgbClr val="CCFF00"/>
          </a:solidFill>
          <a:ln w="12700">
            <a:solidFill>
              <a:srgbClr val="CC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087368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71E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PRODUCT DEMO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31520" y="46451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CCFF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eco-afya.vercel.app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06640" y="960120"/>
            <a:ext cx="3657600" cy="4343400"/>
          </a:xfrm>
          <a:prstGeom prst="roundRect">
            <a:avLst>
              <a:gd name="adj" fmla="val 2000"/>
            </a:avLst>
          </a:prstGeom>
          <a:solidFill>
            <a:srgbClr val="0A2E23"/>
          </a:solidFill>
          <a:ln w="12700">
            <a:solidFill>
              <a:srgbClr val="103D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54112" y="135331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CFF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 SOURCES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54112" y="1783080"/>
            <a:ext cx="28803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7E9D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Ghana cacao2.jpg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7E9D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Wikimedia Commons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7E9D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Local wild fruit in Bamenda, Cameroon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7E9D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Wikimedia Commons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7E9D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Nutmeg, spice, Zanzibar farming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7E9D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Pxhere · photo 130131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54112" y="46817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6FB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0994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B7A3"/>
                </a:solidFill>
                <a:latin typeface="Trebuchet MS"/>
                <a:ea typeface="Trebuchet MS"/>
                <a:cs typeface="Trebuchet M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rebuchet M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Eco Afya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 Afya | Make every choice count</dc:title>
  <dc:subject>Healthy and sustainable food choices</dc:subject>
  <dc:creator>Eco Afya</dc:creator>
  <cp:lastModifiedBy>Eco Afya</cp:lastModifiedBy>
  <cp:revision>1</cp:revision>
  <dcterms:created xsi:type="dcterms:W3CDTF">2026-09-02T20:54:39Z</dcterms:created>
  <dcterms:modified xsi:type="dcterms:W3CDTF">2026-09-02T20:54:39Z</dcterms:modified>
</cp:coreProperties>
</file>